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62" r:id="rId4"/>
    <p:sldId id="263"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2230"/>
    <a:srgbClr val="BE5947"/>
    <a:srgbClr val="797979"/>
    <a:srgbClr val="7FA0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857"/>
    <p:restoredTop sz="94610"/>
  </p:normalViewPr>
  <p:slideViewPr>
    <p:cSldViewPr snapToGrid="0" snapToObjects="1">
      <p:cViewPr varScale="1">
        <p:scale>
          <a:sx n="149" d="100"/>
          <a:sy n="149" d="100"/>
        </p:scale>
        <p:origin x="176" y="5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0981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Europe asks one question about energy security: from whom do we buy, and through which pipeline? In 2021 the pipelines stayed open and the prices still destroyed household budgets and industrial margins. My thesis: liberalisation removed supplier power over volumes but handed over a new lever — the marginal price. Coercion moved from the valve to the price.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sec] Claim 1: the old order bound both sides. Högselius shows Soviet gas flowed through the worst Cold War moments because breaking a 25-year take-or-pay contract was expensive, visible and legally actionable. Claim 2: liberalisation moved price formation from the contract to the hub. The key property is marginal pricing — the last unit traded sets the price of everything. Ample supply, this disciplines suppliers. Tight supply, and because demand cannot fall in the short run, the whole market reprices.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 Act three is the one Europe had not prepared for. In the summer of 2021 the pipelines were open and the contracts were honoured. But Rehden, Germany's largest storage facility, operated by a Gazprom subsidiary, stood almost empty going into winter. Gazprom delivered what it had signed for and not a cubic metre more: no extra spot sales, little extra transit capacity. In the autumn the International Energy Agency said publicly that Russia could have sent more. Nothing on this map was cut – and yet, because the TTF now priced all gas at the margin, withholding the last molecule was enough to move the whole market. By August 2022 the price stood near 340 euros per megawatt-hour, against under 20 before. There was no breach, no casus belli, no single act a government could point to. In Farrell and Newman's terms, a chokepoint effect – exercised by someone who did not own the chokepoint.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 How do we know the problem was the market and not the pipes? Look at how Europe finally answered. In 2022, for the first time, Brussels intervened in market design itself: binding storage targets, removing the discretion that let Rehden sit empty, and a cap on the TTF price. That is an institutional admission that the market had become a security vulnerability. History also imposes caveats. The same liquid hub that transmitted the shock also cured it, drawing LNG cargoes from Asia within months. Intent cannot be proven – 2021 also had a cold spring, weak wind and post-Covid demand. And 2006 and 2009 remind us the valve never went away; what changed was method and deniability, not capacity. So the question Europe asked in 1968 – from whom do we buy? – is still necessary, but no longer sufficient. The pipeline decides whether gas arrives; the design of the market decides what it can be made to cost.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30"/>
        </a:solidFill>
        <a:effectLst/>
      </p:bgPr>
    </p:bg>
    <p:spTree>
      <p:nvGrpSpPr>
        <p:cNvPr id="1" name=""/>
        <p:cNvGrpSpPr/>
        <p:nvPr/>
      </p:nvGrpSpPr>
      <p:grpSpPr>
        <a:xfrm>
          <a:off x="0" y="0"/>
          <a:ext cx="0" cy="0"/>
          <a:chOff x="0" y="0"/>
          <a:chExt cx="0" cy="0"/>
        </a:xfrm>
      </p:grpSpPr>
      <p:sp>
        <p:nvSpPr>
          <p:cNvPr id="3" name="Text 1"/>
          <p:cNvSpPr txBox="1"/>
          <p:nvPr/>
        </p:nvSpPr>
        <p:spPr>
          <a:xfrm>
            <a:off x="550495" y="568071"/>
            <a:ext cx="8043009" cy="1104456"/>
          </a:xfrm>
          <a:prstGeom prst="rect">
            <a:avLst/>
          </a:prstGeom>
          <a:noFill/>
          <a:ln/>
        </p:spPr>
        <p:txBody>
          <a:bodyPr wrap="square" lIns="0" tIns="0" rIns="0" bIns="0" rtlCol="0" anchor="ctr"/>
          <a:lstStyle/>
          <a:p>
            <a:pPr marL="0" indent="0">
              <a:buNone/>
            </a:pPr>
            <a:r>
              <a:rPr lang="en-US" sz="3600" b="1" dirty="0">
                <a:solidFill>
                  <a:srgbClr val="7FA0AE"/>
                </a:solidFill>
                <a:latin typeface="Cambria" pitchFamily="34" charset="0"/>
              </a:rPr>
              <a:t>How Europe's gas market reform changed the shape of its vulnerability</a:t>
            </a:r>
          </a:p>
        </p:txBody>
      </p:sp>
      <p:sp>
        <p:nvSpPr>
          <p:cNvPr id="5" name="Text 3"/>
          <p:cNvSpPr txBox="1"/>
          <p:nvPr/>
        </p:nvSpPr>
        <p:spPr>
          <a:xfrm>
            <a:off x="550495" y="1894459"/>
            <a:ext cx="7540534" cy="677291"/>
          </a:xfrm>
          <a:prstGeom prst="rect">
            <a:avLst/>
          </a:prstGeom>
          <a:noFill/>
          <a:ln/>
        </p:spPr>
        <p:txBody>
          <a:bodyPr wrap="square" lIns="0" tIns="0" rIns="0" bIns="0" rtlCol="0" anchor="t"/>
          <a:lstStyle/>
          <a:p>
            <a:pPr marL="0" indent="0">
              <a:lnSpc>
                <a:spcPts val="2400"/>
              </a:lnSpc>
              <a:buNone/>
            </a:pPr>
            <a:r>
              <a:rPr lang="en-US" sz="1600" b="1" dirty="0">
                <a:solidFill>
                  <a:srgbClr val="3FD0A8"/>
                </a:solidFill>
                <a:latin typeface="Calibri" pitchFamily="34" charset="0"/>
                <a:ea typeface="Calibri" pitchFamily="34" charset="-122"/>
                <a:cs typeface="Calibri" pitchFamily="34" charset="-120"/>
              </a:rPr>
              <a:t>Thesis: </a:t>
            </a:r>
            <a:r>
              <a:rPr lang="en-US" sz="1600" dirty="0">
                <a:solidFill>
                  <a:srgbClr val="FFFFFF"/>
                </a:solidFill>
                <a:latin typeface="Calibri" pitchFamily="34" charset="0"/>
                <a:ea typeface="Calibri" pitchFamily="34" charset="-122"/>
                <a:cs typeface="Calibri" pitchFamily="34" charset="-120"/>
              </a:rPr>
              <a:t>gas market liberalisation reduced supplier power over volumes but created a new and more deniable channel of leverage, over the marginal price.</a:t>
            </a:r>
            <a:endParaRPr lang="en-US" sz="1600" dirty="0"/>
          </a:p>
        </p:txBody>
      </p:sp>
      <p:sp>
        <p:nvSpPr>
          <p:cNvPr id="6" name="Text 4"/>
          <p:cNvSpPr txBox="1"/>
          <p:nvPr/>
        </p:nvSpPr>
        <p:spPr>
          <a:xfrm>
            <a:off x="640080" y="4160520"/>
            <a:ext cx="7315200" cy="274320"/>
          </a:xfrm>
          <a:prstGeom prst="rect">
            <a:avLst/>
          </a:prstGeom>
          <a:noFill/>
          <a:ln/>
        </p:spPr>
        <p:txBody>
          <a:bodyPr wrap="square" lIns="0" tIns="0" rIns="0" bIns="0" rtlCol="0" anchor="ctr"/>
          <a:lstStyle/>
          <a:p>
            <a:pPr marL="0" indent="0">
              <a:buNone/>
            </a:pPr>
            <a:r>
              <a:rPr lang="en-US" sz="1200" dirty="0">
                <a:solidFill>
                  <a:srgbClr val="7FA0AE"/>
                </a:solidFill>
                <a:latin typeface="Calibri" pitchFamily="34" charset="0"/>
                <a:ea typeface="Calibri" pitchFamily="34" charset="-122"/>
                <a:cs typeface="Calibri" pitchFamily="34" charset="-120"/>
              </a:rPr>
              <a:t>Pietro Mischi – Energy and Geopolitics</a:t>
            </a:r>
            <a:endParaRPr lang="en-US" sz="1200" dirty="0"/>
          </a:p>
        </p:txBody>
      </p:sp>
      <p:pic>
        <p:nvPicPr>
          <p:cNvPr id="7" name="Picture 6">
            <a:extLst>
              <a:ext uri="{FF2B5EF4-FFF2-40B4-BE49-F238E27FC236}">
                <a16:creationId xmlns:a16="http://schemas.microsoft.com/office/drawing/2014/main" id="{8B52F382-2EF5-7F0B-7E8A-62CE1FD75AE3}"/>
              </a:ext>
            </a:extLst>
          </p:cNvPr>
          <p:cNvPicPr>
            <a:picLocks noChangeAspect="1"/>
          </p:cNvPicPr>
          <p:nvPr/>
        </p:nvPicPr>
        <p:blipFill>
          <a:blip r:embed="rId3"/>
          <a:stretch>
            <a:fillRect/>
          </a:stretch>
        </p:blipFill>
        <p:spPr>
          <a:xfrm>
            <a:off x="4572000" y="2612199"/>
            <a:ext cx="4310743" cy="24016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046720" cy="502920"/>
          </a:xfrm>
          <a:prstGeom prst="rect">
            <a:avLst/>
          </a:prstGeom>
          <a:noFill/>
          <a:ln/>
        </p:spPr>
        <p:txBody>
          <a:bodyPr wrap="square" lIns="0" tIns="0" rIns="0" bIns="0" rtlCol="0" anchor="ctr"/>
          <a:lstStyle/>
          <a:p>
            <a:pPr marL="0" indent="0" algn="ctr">
              <a:buNone/>
            </a:pPr>
            <a:r>
              <a:rPr lang="en-US" sz="2800" b="1" dirty="0">
                <a:solidFill>
                  <a:srgbClr val="0B2230"/>
                </a:solidFill>
                <a:latin typeface="Cambria" pitchFamily="34" charset="0"/>
                <a:ea typeface="Cambria" pitchFamily="34" charset="-122"/>
                <a:cs typeface="Cambria" pitchFamily="34" charset="-120"/>
              </a:rPr>
              <a:t>Two regimes of price formation</a:t>
            </a:r>
            <a:endParaRPr lang="en-US" sz="2800" dirty="0"/>
          </a:p>
        </p:txBody>
      </p:sp>
      <p:sp>
        <p:nvSpPr>
          <p:cNvPr id="3" name="Shape 1"/>
          <p:cNvSpPr/>
          <p:nvPr/>
        </p:nvSpPr>
        <p:spPr>
          <a:xfrm>
            <a:off x="548640" y="1143000"/>
            <a:ext cx="3749040" cy="2880360"/>
          </a:xfrm>
          <a:prstGeom prst="roundRect">
            <a:avLst>
              <a:gd name="adj" fmla="val 2540"/>
            </a:avLst>
          </a:prstGeom>
          <a:solidFill>
            <a:srgbClr val="EDF3F4"/>
          </a:solidFill>
          <a:ln/>
        </p:spPr>
        <p:txBody>
          <a:bodyPr/>
          <a:lstStyle/>
          <a:p>
            <a:endParaRPr lang="en-IT"/>
          </a:p>
        </p:txBody>
      </p:sp>
      <p:sp>
        <p:nvSpPr>
          <p:cNvPr id="4" name="Text 2"/>
          <p:cNvSpPr txBox="1"/>
          <p:nvPr/>
        </p:nvSpPr>
        <p:spPr>
          <a:xfrm>
            <a:off x="777240" y="1325880"/>
            <a:ext cx="3291840" cy="274320"/>
          </a:xfrm>
          <a:prstGeom prst="rect">
            <a:avLst/>
          </a:prstGeom>
          <a:noFill/>
          <a:ln/>
        </p:spPr>
        <p:txBody>
          <a:bodyPr wrap="square" lIns="0" tIns="0" rIns="0" bIns="0" rtlCol="0" anchor="ctr"/>
          <a:lstStyle/>
          <a:p>
            <a:pPr marL="0" indent="0">
              <a:buNone/>
            </a:pPr>
            <a:r>
              <a:rPr lang="en-US" sz="1300" dirty="0">
                <a:solidFill>
                  <a:srgbClr val="2F4A57"/>
                </a:solidFill>
                <a:latin typeface="Calibri" pitchFamily="34" charset="0"/>
                <a:ea typeface="Calibri" pitchFamily="34" charset="-122"/>
                <a:cs typeface="Calibri" pitchFamily="34" charset="-120"/>
              </a:rPr>
              <a:t>1962–2000s  ·  </a:t>
            </a:r>
            <a:r>
              <a:rPr lang="en-US" sz="1300" b="1" dirty="0">
                <a:solidFill>
                  <a:srgbClr val="2F4A57"/>
                </a:solidFill>
                <a:latin typeface="Calibri" pitchFamily="34" charset="0"/>
                <a:ea typeface="Calibri" pitchFamily="34" charset="-122"/>
                <a:cs typeface="Calibri" pitchFamily="34" charset="-120"/>
              </a:rPr>
              <a:t>GRONINGEN MODEL</a:t>
            </a:r>
            <a:endParaRPr lang="en-US" sz="1300" dirty="0"/>
          </a:p>
        </p:txBody>
      </p:sp>
      <p:sp>
        <p:nvSpPr>
          <p:cNvPr id="5" name="Text 3"/>
          <p:cNvSpPr txBox="1"/>
          <p:nvPr/>
        </p:nvSpPr>
        <p:spPr>
          <a:xfrm>
            <a:off x="777240" y="1627632"/>
            <a:ext cx="3291840" cy="365760"/>
          </a:xfrm>
          <a:prstGeom prst="rect">
            <a:avLst/>
          </a:prstGeom>
          <a:noFill/>
          <a:ln/>
        </p:spPr>
        <p:txBody>
          <a:bodyPr wrap="square" lIns="0" tIns="0" rIns="0" bIns="0" rtlCol="0" anchor="ctr"/>
          <a:lstStyle/>
          <a:p>
            <a:pPr marL="0" indent="0">
              <a:buNone/>
            </a:pPr>
            <a:r>
              <a:rPr lang="en-US" sz="2000" b="1" dirty="0">
                <a:solidFill>
                  <a:srgbClr val="0B2230"/>
                </a:solidFill>
                <a:latin typeface="Cambria" pitchFamily="34" charset="0"/>
                <a:ea typeface="Cambria" pitchFamily="34" charset="-122"/>
                <a:cs typeface="Cambria" pitchFamily="34" charset="-120"/>
              </a:rPr>
              <a:t>PRICE FIXED BY CONTRACT</a:t>
            </a:r>
            <a:endParaRPr lang="en-US" sz="2000" dirty="0"/>
          </a:p>
        </p:txBody>
      </p:sp>
      <p:sp>
        <p:nvSpPr>
          <p:cNvPr id="6" name="Text 4"/>
          <p:cNvSpPr txBox="1"/>
          <p:nvPr/>
        </p:nvSpPr>
        <p:spPr>
          <a:xfrm>
            <a:off x="777240" y="2103120"/>
            <a:ext cx="3291840" cy="1600200"/>
          </a:xfrm>
          <a:prstGeom prst="rect">
            <a:avLst/>
          </a:prstGeom>
          <a:noFill/>
          <a:ln/>
        </p:spPr>
        <p:txBody>
          <a:bodyPr wrap="square" lIns="0" tIns="0" rIns="0" bIns="0" rtlCol="0" anchor="ctr"/>
          <a:lstStyle/>
          <a:p>
            <a:pPr marL="342900" indent="-342900">
              <a:spcAft>
                <a:spcPts val="800"/>
              </a:spcAft>
              <a:buSzPct val="100000"/>
              <a:buChar char="•"/>
            </a:pPr>
            <a:r>
              <a:rPr lang="en-US" sz="1300" b="1" u="sng" dirty="0">
                <a:solidFill>
                  <a:srgbClr val="BE5947"/>
                </a:solidFill>
                <a:latin typeface="Calibri" pitchFamily="34" charset="0"/>
                <a:ea typeface="Calibri" pitchFamily="34" charset="-122"/>
                <a:cs typeface="Calibri" pitchFamily="34" charset="-120"/>
              </a:rPr>
              <a:t>20–25 year contracts</a:t>
            </a:r>
            <a:r>
              <a:rPr lang="en-US" sz="1300" dirty="0">
                <a:solidFill>
                  <a:srgbClr val="2F4A57"/>
                </a:solidFill>
                <a:latin typeface="Calibri" pitchFamily="34" charset="0"/>
                <a:ea typeface="Calibri" pitchFamily="34" charset="-122"/>
                <a:cs typeface="Calibri" pitchFamily="34" charset="-120"/>
              </a:rPr>
              <a:t>; oil-indexed formulas</a:t>
            </a:r>
            <a:endParaRPr lang="en-US" sz="1300" dirty="0"/>
          </a:p>
          <a:p>
            <a:pPr marL="342900" indent="-342900">
              <a:spcAft>
                <a:spcPts val="800"/>
              </a:spcAft>
              <a:buSzPct val="100000"/>
              <a:buChar char="•"/>
            </a:pPr>
            <a:r>
              <a:rPr lang="en-US" sz="1300" b="1" u="sng" dirty="0">
                <a:solidFill>
                  <a:srgbClr val="BE5947"/>
                </a:solidFill>
                <a:latin typeface="Calibri" pitchFamily="34" charset="0"/>
                <a:cs typeface="Calibri" pitchFamily="34" charset="-120"/>
              </a:rPr>
              <a:t>Take-or-pay</a:t>
            </a:r>
            <a:r>
              <a:rPr lang="en-US" sz="1300" dirty="0">
                <a:solidFill>
                  <a:srgbClr val="2F4A57"/>
                </a:solidFill>
                <a:latin typeface="Calibri" pitchFamily="34" charset="0"/>
                <a:ea typeface="Calibri" pitchFamily="34" charset="-122"/>
                <a:cs typeface="Calibri" pitchFamily="34" charset="-120"/>
              </a:rPr>
              <a:t>: buyer committed to volumes</a:t>
            </a:r>
            <a:endParaRPr lang="en-US" sz="1300" dirty="0"/>
          </a:p>
          <a:p>
            <a:pPr marL="342900" indent="-342900">
              <a:spcAft>
                <a:spcPts val="800"/>
              </a:spcAft>
              <a:buSzPct val="100000"/>
              <a:buChar char="•"/>
            </a:pPr>
            <a:r>
              <a:rPr lang="en-US" sz="1300" dirty="0">
                <a:solidFill>
                  <a:srgbClr val="2F4A57"/>
                </a:solidFill>
                <a:latin typeface="Calibri" pitchFamily="34" charset="0"/>
                <a:ea typeface="Calibri" pitchFamily="34" charset="-122"/>
                <a:cs typeface="Calibri" pitchFamily="34" charset="-120"/>
              </a:rPr>
              <a:t>Interruption = visible, costly, actionable breach</a:t>
            </a:r>
            <a:endParaRPr lang="en-US" sz="1300" dirty="0"/>
          </a:p>
          <a:p>
            <a:pPr marL="342900" indent="-342900">
              <a:spcAft>
                <a:spcPts val="800"/>
              </a:spcAft>
              <a:buSzPct val="100000"/>
              <a:buFontTx/>
              <a:buChar char="•"/>
            </a:pPr>
            <a:r>
              <a:rPr lang="en-IT" sz="1300" dirty="0">
                <a:solidFill>
                  <a:srgbClr val="2F4A57"/>
                </a:solidFill>
                <a:latin typeface="Calibri" pitchFamily="34" charset="0"/>
                <a:cs typeface="Calibri" pitchFamily="34" charset="-120"/>
              </a:rPr>
              <a:t>Soviet gas continued to flow during the invasion of Afghanistan in 1979 and martial law in Poland in 1981</a:t>
            </a:r>
            <a:endParaRPr lang="en-US" sz="1300" dirty="0">
              <a:solidFill>
                <a:srgbClr val="2F4A57"/>
              </a:solidFill>
              <a:latin typeface="Calibri" pitchFamily="34" charset="0"/>
              <a:cs typeface="Calibri" pitchFamily="34" charset="-120"/>
            </a:endParaRPr>
          </a:p>
        </p:txBody>
      </p:sp>
      <p:sp>
        <p:nvSpPr>
          <p:cNvPr id="7" name="Shape 5"/>
          <p:cNvSpPr/>
          <p:nvPr/>
        </p:nvSpPr>
        <p:spPr>
          <a:xfrm>
            <a:off x="4846320" y="1143000"/>
            <a:ext cx="3749040" cy="2880360"/>
          </a:xfrm>
          <a:prstGeom prst="roundRect">
            <a:avLst>
              <a:gd name="adj" fmla="val 2540"/>
            </a:avLst>
          </a:prstGeom>
          <a:solidFill>
            <a:srgbClr val="0B2230"/>
          </a:solidFill>
          <a:ln/>
        </p:spPr>
        <p:txBody>
          <a:bodyPr/>
          <a:lstStyle/>
          <a:p>
            <a:endParaRPr lang="en-IT"/>
          </a:p>
        </p:txBody>
      </p:sp>
      <p:sp>
        <p:nvSpPr>
          <p:cNvPr id="8" name="Text 6"/>
          <p:cNvSpPr txBox="1"/>
          <p:nvPr/>
        </p:nvSpPr>
        <p:spPr>
          <a:xfrm>
            <a:off x="5074920" y="1325880"/>
            <a:ext cx="3291840" cy="274320"/>
          </a:xfrm>
          <a:prstGeom prst="rect">
            <a:avLst/>
          </a:prstGeom>
          <a:noFill/>
          <a:ln/>
        </p:spPr>
        <p:txBody>
          <a:bodyPr wrap="square" lIns="0" tIns="0" rIns="0" bIns="0" rtlCol="0" anchor="ctr"/>
          <a:lstStyle/>
          <a:p>
            <a:pPr marL="0" indent="0">
              <a:buNone/>
            </a:pPr>
            <a:r>
              <a:rPr lang="en-US" sz="1300" dirty="0">
                <a:solidFill>
                  <a:srgbClr val="3FD0A8"/>
                </a:solidFill>
                <a:latin typeface="Calibri" pitchFamily="34" charset="0"/>
                <a:ea typeface="Calibri" pitchFamily="34" charset="-122"/>
                <a:cs typeface="Calibri" pitchFamily="34" charset="-120"/>
              </a:rPr>
              <a:t>2003–today  ·  </a:t>
            </a:r>
            <a:r>
              <a:rPr lang="en-US" sz="1300" b="1" dirty="0">
                <a:solidFill>
                  <a:srgbClr val="3FD0A8"/>
                </a:solidFill>
                <a:latin typeface="Calibri" pitchFamily="34" charset="0"/>
                <a:ea typeface="Calibri" pitchFamily="34" charset="-122"/>
                <a:cs typeface="Calibri" pitchFamily="34" charset="-120"/>
              </a:rPr>
              <a:t>TTF hub</a:t>
            </a:r>
            <a:endParaRPr lang="en-US" sz="1300" dirty="0"/>
          </a:p>
        </p:txBody>
      </p:sp>
      <p:sp>
        <p:nvSpPr>
          <p:cNvPr id="9" name="Text 7"/>
          <p:cNvSpPr txBox="1"/>
          <p:nvPr/>
        </p:nvSpPr>
        <p:spPr>
          <a:xfrm>
            <a:off x="5074920" y="1627632"/>
            <a:ext cx="3291840"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PRICE SET AT THE MARGIN</a:t>
            </a:r>
            <a:endParaRPr lang="en-US" sz="2000" dirty="0"/>
          </a:p>
        </p:txBody>
      </p:sp>
      <p:sp>
        <p:nvSpPr>
          <p:cNvPr id="10" name="Text 8"/>
          <p:cNvSpPr txBox="1"/>
          <p:nvPr/>
        </p:nvSpPr>
        <p:spPr>
          <a:xfrm>
            <a:off x="5074920" y="2103120"/>
            <a:ext cx="3291840" cy="16002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CFE2E6"/>
                </a:solidFill>
                <a:latin typeface="Calibri" pitchFamily="34" charset="0"/>
                <a:ea typeface="Calibri" pitchFamily="34" charset="-122"/>
                <a:cs typeface="Calibri" pitchFamily="34" charset="-120"/>
              </a:rPr>
              <a:t>EU gas directives 1998 / 2003 / 2009 unbundle supply</a:t>
            </a:r>
            <a:endParaRPr lang="en-US" sz="1300" dirty="0"/>
          </a:p>
          <a:p>
            <a:pPr marL="342900" indent="-342900">
              <a:spcAft>
                <a:spcPts val="800"/>
              </a:spcAft>
              <a:buSzPct val="100000"/>
              <a:buChar char="•"/>
            </a:pPr>
            <a:r>
              <a:rPr lang="en-US" sz="1300" dirty="0">
                <a:solidFill>
                  <a:srgbClr val="CFE2E6"/>
                </a:solidFill>
                <a:latin typeface="Calibri" pitchFamily="34" charset="0"/>
                <a:ea typeface="Calibri" pitchFamily="34" charset="-122"/>
                <a:cs typeface="Calibri" pitchFamily="34" charset="-120"/>
              </a:rPr>
              <a:t>TTF launched 2003; hub indexation spreads in the 2010s</a:t>
            </a:r>
            <a:endParaRPr lang="en-US" sz="1300" dirty="0"/>
          </a:p>
          <a:p>
            <a:pPr marL="342900" indent="-342900">
              <a:spcAft>
                <a:spcPts val="800"/>
              </a:spcAft>
              <a:buSzPct val="100000"/>
              <a:buChar char="•"/>
            </a:pPr>
            <a:r>
              <a:rPr lang="en-US" sz="1300" b="1" u="sng" dirty="0">
                <a:solidFill>
                  <a:srgbClr val="3FD0A8"/>
                </a:solidFill>
                <a:latin typeface="Calibri" pitchFamily="34" charset="0"/>
                <a:cs typeface="Calibri" pitchFamily="34" charset="-120"/>
              </a:rPr>
              <a:t>The last unit traded prices all the gas</a:t>
            </a:r>
          </a:p>
          <a:p>
            <a:pPr marL="342900" indent="-342900">
              <a:spcAft>
                <a:spcPts val="800"/>
              </a:spcAft>
              <a:buSzPct val="100000"/>
              <a:buChar char="•"/>
            </a:pPr>
            <a:r>
              <a:rPr lang="en-US" sz="1300" b="1" u="sng" dirty="0">
                <a:solidFill>
                  <a:srgbClr val="3FD0A8"/>
                </a:solidFill>
                <a:latin typeface="Calibri" pitchFamily="34" charset="0"/>
                <a:cs typeface="Calibri" pitchFamily="34" charset="-120"/>
              </a:rPr>
              <a:t>Short-run demand is inelastic </a:t>
            </a:r>
            <a:r>
              <a:rPr lang="en-US" sz="1300" dirty="0">
                <a:solidFill>
                  <a:srgbClr val="CFE2E6"/>
                </a:solidFill>
                <a:latin typeface="Calibri" pitchFamily="34" charset="0"/>
                <a:ea typeface="Calibri" pitchFamily="34" charset="-122"/>
                <a:cs typeface="Calibri" pitchFamily="34" charset="-120"/>
              </a:rPr>
              <a:t>→ small deficit, large repricing</a:t>
            </a:r>
            <a:endParaRPr lang="en-US" sz="1300" dirty="0"/>
          </a:p>
        </p:txBody>
      </p:sp>
      <p:sp>
        <p:nvSpPr>
          <p:cNvPr id="11" name="Text 9"/>
          <p:cNvSpPr txBox="1"/>
          <p:nvPr/>
        </p:nvSpPr>
        <p:spPr>
          <a:xfrm>
            <a:off x="548640" y="4224528"/>
            <a:ext cx="8046720" cy="274320"/>
          </a:xfrm>
          <a:prstGeom prst="rect">
            <a:avLst/>
          </a:prstGeom>
          <a:noFill/>
          <a:ln/>
        </p:spPr>
        <p:txBody>
          <a:bodyPr wrap="square" lIns="0" tIns="0" rIns="0" bIns="0" rtlCol="0" anchor="ctr"/>
          <a:lstStyle/>
          <a:p>
            <a:pPr marL="0" indent="0">
              <a:buNone/>
            </a:pPr>
            <a:r>
              <a:rPr lang="en-US" sz="1000" dirty="0">
                <a:solidFill>
                  <a:srgbClr val="7FA0AE"/>
                </a:solidFill>
                <a:latin typeface="Calibri" pitchFamily="34" charset="0"/>
                <a:ea typeface="Calibri" pitchFamily="34" charset="-122"/>
                <a:cs typeface="Calibri" pitchFamily="34" charset="-120"/>
              </a:rPr>
              <a:t>Sources: Högselius (2013); EU gas directives 98/30/EC, 2003/55/EC, 2009/73/EC</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2230"/>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rcRect l="33000" r="15000"/>
          <a:stretch>
            <a:fillRect/>
          </a:stretch>
        </p:blipFill>
        <p:spPr>
          <a:xfrm>
            <a:off x="4343400" y="0"/>
            <a:ext cx="4800600" cy="5143500"/>
          </a:xfrm>
          <a:prstGeom prst="rect">
            <a:avLst/>
          </a:prstGeom>
        </p:spPr>
      </p:pic>
      <p:sp>
        <p:nvSpPr>
          <p:cNvPr id="3" name="TextBox 2"/>
          <p:cNvSpPr txBox="1"/>
          <p:nvPr/>
        </p:nvSpPr>
        <p:spPr>
          <a:xfrm>
            <a:off x="548640" y="384048"/>
            <a:ext cx="3657600" cy="868680"/>
          </a:xfrm>
          <a:prstGeom prst="rect">
            <a:avLst/>
          </a:prstGeom>
          <a:noFill/>
        </p:spPr>
        <p:txBody>
          <a:bodyPr wrap="square" lIns="0" tIns="0" rIns="0" bIns="0" anchor="t">
            <a:spAutoFit/>
          </a:bodyPr>
          <a:lstStyle/>
          <a:p>
            <a:pPr algn="l"/>
            <a:r>
              <a:rPr sz="1200" b="1" i="0" dirty="0">
                <a:solidFill>
                  <a:srgbClr val="3FD0A8"/>
                </a:solidFill>
                <a:latin typeface="Calibri"/>
              </a:rPr>
              <a:t>Winter 2021</a:t>
            </a:r>
          </a:p>
          <a:p>
            <a:pPr algn="l"/>
            <a:r>
              <a:rPr sz="2800" b="1" i="0" dirty="0">
                <a:solidFill>
                  <a:srgbClr val="FFFFFF"/>
                </a:solidFill>
                <a:latin typeface="Cambria"/>
              </a:rPr>
              <a:t>No valve was closed</a:t>
            </a:r>
          </a:p>
        </p:txBody>
      </p:sp>
      <p:sp>
        <p:nvSpPr>
          <p:cNvPr id="4" name="TextBox 3"/>
          <p:cNvSpPr txBox="1"/>
          <p:nvPr/>
        </p:nvSpPr>
        <p:spPr>
          <a:xfrm>
            <a:off x="548640" y="1188720"/>
            <a:ext cx="3520440" cy="1600200"/>
          </a:xfrm>
          <a:prstGeom prst="rect">
            <a:avLst/>
          </a:prstGeom>
          <a:noFill/>
        </p:spPr>
        <p:txBody>
          <a:bodyPr wrap="square" lIns="0" tIns="0" rIns="0" bIns="0" anchor="t">
            <a:spAutoFit/>
          </a:bodyPr>
          <a:lstStyle/>
          <a:p>
            <a:pPr algn="l">
              <a:spcAft>
                <a:spcPts val="800"/>
              </a:spcAft>
            </a:pPr>
            <a:r>
              <a:rPr sz="1150" b="1" i="0" dirty="0">
                <a:solidFill>
                  <a:srgbClr val="3FD0A8"/>
                </a:solidFill>
                <a:latin typeface="Calibri"/>
              </a:rPr>
              <a:t>Summer 2021  </a:t>
            </a:r>
            <a:r>
              <a:rPr sz="1150" b="0" i="0" dirty="0" err="1">
                <a:solidFill>
                  <a:srgbClr val="CFE2E6"/>
                </a:solidFill>
                <a:latin typeface="Calibri"/>
              </a:rPr>
              <a:t>Rehden</a:t>
            </a:r>
            <a:r>
              <a:rPr sz="1150" b="0" i="0" dirty="0">
                <a:solidFill>
                  <a:srgbClr val="CFE2E6"/>
                </a:solidFill>
                <a:latin typeface="Calibri"/>
              </a:rPr>
              <a:t>, Germany's largest storage site and run by a Gazprom subsidiary, is left almost empty.</a:t>
            </a:r>
          </a:p>
          <a:p>
            <a:pPr algn="l">
              <a:spcAft>
                <a:spcPts val="800"/>
              </a:spcAft>
            </a:pPr>
            <a:r>
              <a:rPr sz="1150" b="1" i="0" dirty="0">
                <a:solidFill>
                  <a:srgbClr val="3FD0A8"/>
                </a:solidFill>
                <a:latin typeface="Calibri"/>
              </a:rPr>
              <a:t>Autumn 2021  </a:t>
            </a:r>
            <a:r>
              <a:rPr sz="1150" b="0" i="0" dirty="0">
                <a:solidFill>
                  <a:srgbClr val="CFE2E6"/>
                </a:solidFill>
                <a:latin typeface="Calibri"/>
              </a:rPr>
              <a:t>Gazprom </a:t>
            </a:r>
            <a:r>
              <a:rPr sz="1150" b="0" i="0" dirty="0" err="1">
                <a:solidFill>
                  <a:srgbClr val="CFE2E6"/>
                </a:solidFill>
                <a:latin typeface="Calibri"/>
              </a:rPr>
              <a:t>honours</a:t>
            </a:r>
            <a:r>
              <a:rPr sz="1150" b="0" i="0" dirty="0">
                <a:solidFill>
                  <a:srgbClr val="CFE2E6"/>
                </a:solidFill>
                <a:latin typeface="Calibri"/>
              </a:rPr>
              <a:t> its contracts — but offers nothing extra on the spot market. The IEA says Russia could send more.</a:t>
            </a:r>
          </a:p>
          <a:p>
            <a:pPr algn="l">
              <a:spcAft>
                <a:spcPts val="800"/>
              </a:spcAft>
            </a:pPr>
            <a:r>
              <a:rPr sz="1150" b="1" i="0" dirty="0">
                <a:solidFill>
                  <a:srgbClr val="3FD0A8"/>
                </a:solidFill>
                <a:latin typeface="Calibri"/>
              </a:rPr>
              <a:t>August 2022  </a:t>
            </a:r>
            <a:r>
              <a:rPr sz="1150" b="0" i="0" dirty="0">
                <a:solidFill>
                  <a:srgbClr val="CFE2E6"/>
                </a:solidFill>
                <a:latin typeface="Calibri"/>
              </a:rPr>
              <a:t>The TTF price touches about €340/MWh.</a:t>
            </a:r>
          </a:p>
        </p:txBody>
      </p:sp>
      <p:sp>
        <p:nvSpPr>
          <p:cNvPr id="5" name="TextBox 4"/>
          <p:cNvSpPr txBox="1"/>
          <p:nvPr/>
        </p:nvSpPr>
        <p:spPr>
          <a:xfrm>
            <a:off x="548640" y="2674620"/>
            <a:ext cx="3520440" cy="685800"/>
          </a:xfrm>
          <a:prstGeom prst="rect">
            <a:avLst/>
          </a:prstGeom>
          <a:noFill/>
        </p:spPr>
        <p:txBody>
          <a:bodyPr wrap="square" lIns="0" tIns="0" rIns="0" bIns="0" anchor="t">
            <a:spAutoFit/>
          </a:bodyPr>
          <a:lstStyle/>
          <a:p>
            <a:pPr algn="l"/>
            <a:r>
              <a:rPr sz="3600" b="1" i="0" dirty="0">
                <a:solidFill>
                  <a:srgbClr val="7FA0AE"/>
                </a:solidFill>
                <a:latin typeface="Cambria"/>
              </a:rPr>
              <a:t>&lt;€20</a:t>
            </a:r>
            <a:r>
              <a:rPr sz="2800" b="0" i="0" dirty="0">
                <a:solidFill>
                  <a:srgbClr val="7FA0AE"/>
                </a:solidFill>
                <a:latin typeface="Cambria"/>
              </a:rPr>
              <a:t>  →  </a:t>
            </a:r>
            <a:r>
              <a:rPr sz="3600" b="1" i="0" dirty="0">
                <a:solidFill>
                  <a:srgbClr val="E07A5F"/>
                </a:solidFill>
                <a:latin typeface="Cambria"/>
              </a:rPr>
              <a:t>€340</a:t>
            </a:r>
          </a:p>
          <a:p>
            <a:pPr algn="l"/>
            <a:r>
              <a:rPr sz="1050" b="0" i="0" dirty="0">
                <a:solidFill>
                  <a:srgbClr val="7FA0AE"/>
                </a:solidFill>
                <a:latin typeface="Calibri"/>
              </a:rPr>
              <a:t>per MWh — before the crisis vs. its peak</a:t>
            </a:r>
          </a:p>
        </p:txBody>
      </p:sp>
      <p:sp>
        <p:nvSpPr>
          <p:cNvPr id="6" name="TextBox 5"/>
          <p:cNvSpPr txBox="1"/>
          <p:nvPr/>
        </p:nvSpPr>
        <p:spPr>
          <a:xfrm>
            <a:off x="548640" y="3593592"/>
            <a:ext cx="3520440" cy="807913"/>
          </a:xfrm>
          <a:prstGeom prst="rect">
            <a:avLst/>
          </a:prstGeom>
          <a:noFill/>
        </p:spPr>
        <p:txBody>
          <a:bodyPr wrap="square" lIns="0" tIns="0" rIns="0" bIns="0" anchor="t">
            <a:spAutoFit/>
          </a:bodyPr>
          <a:lstStyle/>
          <a:p>
            <a:pPr algn="l"/>
            <a:r>
              <a:rPr sz="1200" b="1" i="0" dirty="0">
                <a:solidFill>
                  <a:srgbClr val="FFFFFF"/>
                </a:solidFill>
                <a:latin typeface="Calibri"/>
              </a:rPr>
              <a:t>No breach, </a:t>
            </a:r>
            <a:r>
              <a:rPr lang="it-IT" sz="1200" b="1" i="0" dirty="0" err="1">
                <a:solidFill>
                  <a:srgbClr val="FFFFFF"/>
                </a:solidFill>
                <a:latin typeface="Calibri"/>
              </a:rPr>
              <a:t>N</a:t>
            </a:r>
            <a:r>
              <a:rPr sz="1200" b="1" i="0" dirty="0">
                <a:solidFill>
                  <a:srgbClr val="FFFFFF"/>
                </a:solidFill>
                <a:latin typeface="Calibri"/>
              </a:rPr>
              <a:t>o casus belli, </a:t>
            </a:r>
            <a:r>
              <a:rPr lang="it-IT" sz="1200" b="1" i="0" dirty="0" err="1">
                <a:solidFill>
                  <a:srgbClr val="FFFFFF"/>
                </a:solidFill>
                <a:latin typeface="Calibri"/>
              </a:rPr>
              <a:t>N</a:t>
            </a:r>
            <a:r>
              <a:rPr sz="1200" b="1" i="0" dirty="0">
                <a:solidFill>
                  <a:srgbClr val="FFFFFF"/>
                </a:solidFill>
                <a:latin typeface="Calibri"/>
              </a:rPr>
              <a:t>o single act to answer.</a:t>
            </a:r>
            <a:endParaRPr lang="it-IT" sz="1200" b="1" i="0" dirty="0">
              <a:solidFill>
                <a:srgbClr val="FFFFFF"/>
              </a:solidFill>
              <a:latin typeface="Calibri"/>
            </a:endParaRPr>
          </a:p>
          <a:p>
            <a:pPr algn="l"/>
            <a:endParaRPr lang="it-IT" sz="500" b="1" dirty="0">
              <a:solidFill>
                <a:srgbClr val="FFFFFF"/>
              </a:solidFill>
              <a:latin typeface="Calibri"/>
            </a:endParaRPr>
          </a:p>
          <a:p>
            <a:pPr algn="l"/>
            <a:r>
              <a:rPr sz="1200" b="0" i="0" dirty="0">
                <a:solidFill>
                  <a:srgbClr val="CFE2E6"/>
                </a:solidFill>
                <a:latin typeface="Calibri"/>
              </a:rPr>
              <a:t>Withholding the marginal molecule repriced all the gas: </a:t>
            </a:r>
            <a:r>
              <a:rPr sz="1150" b="1" u="sng" dirty="0">
                <a:solidFill>
                  <a:srgbClr val="3FD0A8"/>
                </a:solidFill>
                <a:latin typeface="Calibri"/>
              </a:rPr>
              <a:t>a chokepoint effect without holding the chokepoint </a:t>
            </a:r>
            <a:r>
              <a:rPr sz="1200" b="0" i="0" dirty="0">
                <a:solidFill>
                  <a:srgbClr val="CFE2E6"/>
                </a:solidFill>
                <a:latin typeface="Calibri"/>
              </a:rPr>
              <a:t>(Farrell &amp; Newman 2019).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8046720" cy="461665"/>
          </a:xfrm>
          <a:prstGeom prst="rect">
            <a:avLst/>
          </a:prstGeom>
          <a:noFill/>
        </p:spPr>
        <p:txBody>
          <a:bodyPr wrap="square" lIns="0" tIns="0" rIns="0" bIns="0" anchor="t">
            <a:spAutoFit/>
          </a:bodyPr>
          <a:lstStyle/>
          <a:p>
            <a:pPr algn="l"/>
            <a:r>
              <a:rPr sz="3000" b="1" i="0" dirty="0">
                <a:solidFill>
                  <a:srgbClr val="0B2230"/>
                </a:solidFill>
                <a:latin typeface="Cambria"/>
              </a:rPr>
              <a:t>Europe's answer</a:t>
            </a:r>
          </a:p>
        </p:txBody>
      </p:sp>
      <p:sp>
        <p:nvSpPr>
          <p:cNvPr id="3" name="Rounded Rectangle 2"/>
          <p:cNvSpPr/>
          <p:nvPr/>
        </p:nvSpPr>
        <p:spPr>
          <a:xfrm>
            <a:off x="548640" y="1097280"/>
            <a:ext cx="3931920" cy="2011680"/>
          </a:xfrm>
          <a:prstGeom prst="roundRect">
            <a:avLst>
              <a:gd name="adj" fmla="val 6000"/>
            </a:avLst>
          </a:prstGeom>
          <a:solidFill>
            <a:srgbClr val="0B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7" y="1395233"/>
            <a:ext cx="3608183" cy="1415772"/>
          </a:xfrm>
          <a:prstGeom prst="rect">
            <a:avLst/>
          </a:prstGeom>
          <a:noFill/>
        </p:spPr>
        <p:txBody>
          <a:bodyPr wrap="square" lIns="0" tIns="0" rIns="0" bIns="0" anchor="ctr">
            <a:spAutoFit/>
          </a:bodyPr>
          <a:lstStyle/>
          <a:p>
            <a:pPr algn="l">
              <a:spcAft>
                <a:spcPts val="600"/>
              </a:spcAft>
            </a:pPr>
            <a:r>
              <a:rPr sz="1100" b="1" i="0" dirty="0">
                <a:solidFill>
                  <a:srgbClr val="3FD0A8"/>
                </a:solidFill>
                <a:latin typeface="Calibri"/>
              </a:rPr>
              <a:t>BRUSSELS, 2022</a:t>
            </a:r>
          </a:p>
          <a:p>
            <a:pPr algn="l">
              <a:spcAft>
                <a:spcPts val="600"/>
              </a:spcAft>
            </a:pPr>
            <a:r>
              <a:rPr sz="1500" b="1" i="0" dirty="0">
                <a:solidFill>
                  <a:srgbClr val="FFFFFF"/>
                </a:solidFill>
                <a:latin typeface="Cambria"/>
              </a:rPr>
              <a:t>For the first time, the fix is market design</a:t>
            </a:r>
          </a:p>
          <a:p>
            <a:pPr algn="l">
              <a:spcAft>
                <a:spcPts val="600"/>
              </a:spcAft>
            </a:pPr>
            <a:r>
              <a:rPr sz="1100" b="1" i="1" u="sng" dirty="0">
                <a:solidFill>
                  <a:srgbClr val="3FD0A8"/>
                </a:solidFill>
                <a:latin typeface="Calibri"/>
              </a:rPr>
              <a:t>Binding storage targets</a:t>
            </a:r>
            <a:r>
              <a:rPr sz="1100" b="1" i="1" dirty="0">
                <a:solidFill>
                  <a:srgbClr val="3FD0A8"/>
                </a:solidFill>
                <a:latin typeface="Calibri"/>
              </a:rPr>
              <a:t> </a:t>
            </a:r>
            <a:r>
              <a:rPr sz="1150" b="0" i="0" dirty="0">
                <a:solidFill>
                  <a:srgbClr val="CFE2E6"/>
                </a:solidFill>
                <a:latin typeface="Calibri"/>
              </a:rPr>
              <a:t>(Reg. 2022/1032) </a:t>
            </a:r>
            <a:endParaRPr lang="it-IT" sz="1150" b="0" i="0" dirty="0">
              <a:solidFill>
                <a:srgbClr val="CFE2E6"/>
              </a:solidFill>
              <a:latin typeface="Calibri"/>
            </a:endParaRPr>
          </a:p>
          <a:p>
            <a:pPr algn="l">
              <a:spcAft>
                <a:spcPts val="600"/>
              </a:spcAft>
            </a:pPr>
            <a:r>
              <a:rPr sz="1100" b="1" i="1" u="sng" dirty="0">
                <a:solidFill>
                  <a:srgbClr val="3FD0A8"/>
                </a:solidFill>
                <a:latin typeface="Calibri"/>
              </a:rPr>
              <a:t>and a cap on the TTF price</a:t>
            </a:r>
            <a:r>
              <a:rPr sz="1150" b="0" i="0" dirty="0">
                <a:solidFill>
                  <a:srgbClr val="CFE2E6"/>
                </a:solidFill>
                <a:latin typeface="Calibri"/>
              </a:rPr>
              <a:t> (Reg. 2022/2578) </a:t>
            </a:r>
            <a:endParaRPr lang="it-IT" sz="1150" b="0" i="0" dirty="0">
              <a:solidFill>
                <a:srgbClr val="CFE2E6"/>
              </a:solidFill>
              <a:latin typeface="Calibri"/>
            </a:endParaRPr>
          </a:p>
          <a:p>
            <a:pPr algn="l">
              <a:spcAft>
                <a:spcPts val="600"/>
              </a:spcAft>
            </a:pPr>
            <a:r>
              <a:rPr sz="1150" b="0" i="0" dirty="0">
                <a:solidFill>
                  <a:srgbClr val="CFE2E6"/>
                </a:solidFill>
                <a:latin typeface="Calibri"/>
              </a:rPr>
              <a:t>— an implicit admission that the market itself had become the vulnerability.</a:t>
            </a:r>
          </a:p>
        </p:txBody>
      </p:sp>
      <p:sp>
        <p:nvSpPr>
          <p:cNvPr id="5" name="TextBox 4"/>
          <p:cNvSpPr txBox="1"/>
          <p:nvPr/>
        </p:nvSpPr>
        <p:spPr>
          <a:xfrm>
            <a:off x="4663440" y="1097280"/>
            <a:ext cx="3931920" cy="2057400"/>
          </a:xfrm>
          <a:prstGeom prst="rect">
            <a:avLst/>
          </a:prstGeom>
          <a:noFill/>
        </p:spPr>
        <p:txBody>
          <a:bodyPr wrap="square" lIns="0" tIns="0" rIns="0" bIns="0" anchor="t">
            <a:spAutoFit/>
          </a:bodyPr>
          <a:lstStyle/>
          <a:p>
            <a:pPr algn="l">
              <a:spcAft>
                <a:spcPts val="200"/>
              </a:spcAft>
            </a:pPr>
            <a:r>
              <a:rPr sz="1250" b="1" i="0">
                <a:solidFill>
                  <a:srgbClr val="BE5947"/>
                </a:solidFill>
                <a:latin typeface="Calibri"/>
              </a:rPr>
              <a:t>Liquidity cut both ways</a:t>
            </a:r>
          </a:p>
          <a:p>
            <a:pPr algn="l">
              <a:spcAft>
                <a:spcPts val="900"/>
              </a:spcAft>
            </a:pPr>
            <a:r>
              <a:rPr sz="1150" b="0" i="0">
                <a:solidFill>
                  <a:srgbClr val="2F4A57"/>
                </a:solidFill>
                <a:latin typeface="Calibri"/>
              </a:rPr>
              <a:t>The same hub pulled LNG from Asia within months — unthinkable in the Groningen era.</a:t>
            </a:r>
          </a:p>
          <a:p>
            <a:pPr algn="l">
              <a:spcAft>
                <a:spcPts val="200"/>
              </a:spcAft>
            </a:pPr>
            <a:r>
              <a:rPr sz="1250" b="1" i="0">
                <a:solidFill>
                  <a:srgbClr val="BE5947"/>
                </a:solidFill>
                <a:latin typeface="Calibri"/>
              </a:rPr>
              <a:t>Intent stays unproven</a:t>
            </a:r>
          </a:p>
          <a:p>
            <a:pPr algn="l">
              <a:spcAft>
                <a:spcPts val="900"/>
              </a:spcAft>
            </a:pPr>
            <a:r>
              <a:rPr sz="1150" b="0" i="0">
                <a:solidFill>
                  <a:srgbClr val="2F4A57"/>
                </a:solidFill>
                <a:latin typeface="Calibri"/>
              </a:rPr>
              <a:t>Cold spring, weak wind, post-Covid demand. Conduct consistent with withholding, not proof.</a:t>
            </a:r>
          </a:p>
          <a:p>
            <a:pPr algn="l">
              <a:spcAft>
                <a:spcPts val="200"/>
              </a:spcAft>
            </a:pPr>
            <a:r>
              <a:rPr sz="1250" b="1" i="0">
                <a:solidFill>
                  <a:srgbClr val="BE5947"/>
                </a:solidFill>
                <a:latin typeface="Calibri"/>
              </a:rPr>
              <a:t>The valve never left</a:t>
            </a:r>
          </a:p>
          <a:p>
            <a:pPr algn="l">
              <a:spcAft>
                <a:spcPts val="900"/>
              </a:spcAft>
            </a:pPr>
            <a:r>
              <a:rPr sz="1150" b="0" i="0">
                <a:solidFill>
                  <a:srgbClr val="2F4A57"/>
                </a:solidFill>
                <a:latin typeface="Calibri"/>
              </a:rPr>
              <a:t>2006 and 2009 show physical coercion survived. What changed was method and deniability.</a:t>
            </a:r>
          </a:p>
        </p:txBody>
      </p:sp>
      <p:sp>
        <p:nvSpPr>
          <p:cNvPr id="6" name="Rounded Rectangle 5"/>
          <p:cNvSpPr/>
          <p:nvPr/>
        </p:nvSpPr>
        <p:spPr>
          <a:xfrm>
            <a:off x="548640" y="3429000"/>
            <a:ext cx="8046720" cy="1143000"/>
          </a:xfrm>
          <a:prstGeom prst="roundRect">
            <a:avLst>
              <a:gd name="adj" fmla="val 6000"/>
            </a:avLst>
          </a:prstGeom>
          <a:solidFill>
            <a:srgbClr val="ED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3585001"/>
            <a:ext cx="7589520" cy="830997"/>
          </a:xfrm>
          <a:prstGeom prst="rect">
            <a:avLst/>
          </a:prstGeom>
          <a:noFill/>
        </p:spPr>
        <p:txBody>
          <a:bodyPr wrap="square" lIns="0" tIns="0" rIns="0" bIns="0" anchor="ctr">
            <a:spAutoFit/>
          </a:bodyPr>
          <a:lstStyle/>
          <a:p>
            <a:pPr algn="l">
              <a:spcAft>
                <a:spcPts val="600"/>
              </a:spcAft>
            </a:pPr>
            <a:r>
              <a:rPr sz="1400" b="0" i="1" dirty="0">
                <a:solidFill>
                  <a:srgbClr val="2F4A57"/>
                </a:solidFill>
                <a:latin typeface="Cambria"/>
              </a:rPr>
              <a:t>1968 asked: from whom do we buy? 2021 asked: who sets the last price?</a:t>
            </a:r>
          </a:p>
          <a:p>
            <a:pPr algn="l">
              <a:spcAft>
                <a:spcPts val="600"/>
              </a:spcAft>
            </a:pPr>
            <a:r>
              <a:rPr sz="1500" b="1" i="0" dirty="0">
                <a:solidFill>
                  <a:srgbClr val="0B2230"/>
                </a:solidFill>
                <a:latin typeface="Cambria"/>
              </a:rPr>
              <a:t>The pipeline decides whether gas arrives. </a:t>
            </a:r>
            <a:endParaRPr lang="it-IT" sz="1500" b="1" i="0" dirty="0">
              <a:solidFill>
                <a:srgbClr val="0B2230"/>
              </a:solidFill>
              <a:latin typeface="Cambria"/>
            </a:endParaRPr>
          </a:p>
          <a:p>
            <a:pPr algn="l">
              <a:spcAft>
                <a:spcPts val="600"/>
              </a:spcAft>
            </a:pPr>
            <a:r>
              <a:rPr sz="1500" b="1" i="0" dirty="0">
                <a:solidFill>
                  <a:srgbClr val="0B2230"/>
                </a:solidFill>
                <a:latin typeface="Cambria"/>
              </a:rPr>
              <a:t>The design of the market decides what it can be made to cost.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TotalTime>
  <Words>957</Words>
  <Application>Microsoft Macintosh PowerPoint</Application>
  <PresentationFormat>On-screen Show (16:9)</PresentationFormat>
  <Paragraphs>50</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Price Is the Weapon</dc:title>
  <dc:subject>PptxGenJS Presentation</dc:subject>
  <dc:creator>Pietro</dc:creator>
  <cp:lastModifiedBy>Pietro Alessandro Mischi</cp:lastModifiedBy>
  <cp:revision>6</cp:revision>
  <dcterms:created xsi:type="dcterms:W3CDTF">2026-09-24T10:33:28Z</dcterms:created>
  <dcterms:modified xsi:type="dcterms:W3CDTF">2026-09-29T14:44:22Z</dcterms:modified>
</cp:coreProperties>
</file>